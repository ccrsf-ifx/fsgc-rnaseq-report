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03da6a36804480" /><Relationship Type="http://schemas.openxmlformats.org/officeDocument/2006/relationships/extended-properties" Target="/docProps/app.xml" Id="R2849dc9105d84fd3" /><Relationship Type="http://schemas.openxmlformats.org/officeDocument/2006/relationships/officeDocument" Target="/ppt/presentation.xml" Id="R7cb7b9178d1f4e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150e9a6fb84f41"/>
  </p:sldMasterIdLst>
  <p:notesMasterIdLst>
    <p:notesMasterId xmlns:r="http://schemas.openxmlformats.org/officeDocument/2006/relationships" r:id="Rc766eac81bb44180"/>
  </p:notesMasterIdLst>
  <p:sldIdLst>
    <p:sldId xmlns:r="http://schemas.openxmlformats.org/officeDocument/2006/relationships" id="256" r:id="R87b062660541400c"/>
    <p:sldId xmlns:r="http://schemas.openxmlformats.org/officeDocument/2006/relationships" id="257" r:id="R408ec836328e4912"/>
    <p:sldId xmlns:r="http://schemas.openxmlformats.org/officeDocument/2006/relationships" id="258" r:id="R8de4ff16b9df401f"/>
    <p:sldId xmlns:r="http://schemas.openxmlformats.org/officeDocument/2006/relationships" id="259" r:id="Rbeeb0bba553e4632"/>
    <p:sldId xmlns:r="http://schemas.openxmlformats.org/officeDocument/2006/relationships" id="260" r:id="R4df82e7217e341c3"/>
    <p:sldId xmlns:r="http://schemas.openxmlformats.org/officeDocument/2006/relationships" id="261" r:id="R8a2192d5060d4c90"/>
    <p:sldId xmlns:r="http://schemas.openxmlformats.org/officeDocument/2006/relationships" id="262" r:id="Rcedaa7bb16ed40cd"/>
    <p:sldId xmlns:r="http://schemas.openxmlformats.org/officeDocument/2006/relationships" id="263" r:id="R7dd674be8f48492b"/>
    <p:sldId xmlns:r="http://schemas.openxmlformats.org/officeDocument/2006/relationships" id="264" r:id="Rb676b611e22d4fca"/>
    <p:sldId xmlns:r="http://schemas.openxmlformats.org/officeDocument/2006/relationships" id="265" r:id="R1f5512b433b14522"/>
    <p:sldId xmlns:r="http://schemas.openxmlformats.org/officeDocument/2006/relationships" id="266" r:id="R01f88bdf684f47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50e9a6fb84f41" /><Relationship Type="http://schemas.openxmlformats.org/officeDocument/2006/relationships/theme" Target="/ppt/theme/theme1.xml" Id="R5a642939abfa4192" /><Relationship Type="http://schemas.openxmlformats.org/officeDocument/2006/relationships/notesMaster" Target="/ppt/notesMasters/notesMaster1.xml" Id="Rc766eac81bb44180" /><Relationship Type="http://schemas.openxmlformats.org/officeDocument/2006/relationships/presProps" Target="/ppt/presProps.xml" Id="Rcea2ceda8e394432" /><Relationship Type="http://schemas.openxmlformats.org/officeDocument/2006/relationships/viewProps" Target="/ppt/viewProps.xml" Id="Rf41aba3dedcc47f7" /><Relationship Type="http://schemas.openxmlformats.org/officeDocument/2006/relationships/tableStyles" Target="/ppt/tableStyles.xml" Id="Rad8cf72826ac42cf" /><Relationship Type="http://schemas.openxmlformats.org/officeDocument/2006/relationships/slide" Target="/ppt/slides/slide1.xml" Id="R87b062660541400c" /><Relationship Type="http://schemas.openxmlformats.org/officeDocument/2006/relationships/slide" Target="/ppt/slides/slide2.xml" Id="R408ec836328e4912" /><Relationship Type="http://schemas.openxmlformats.org/officeDocument/2006/relationships/slide" Target="/ppt/slides/slide3.xml" Id="R8de4ff16b9df401f" /><Relationship Type="http://schemas.openxmlformats.org/officeDocument/2006/relationships/slide" Target="/ppt/slides/slide4.xml" Id="Rbeeb0bba553e4632" /><Relationship Type="http://schemas.openxmlformats.org/officeDocument/2006/relationships/slide" Target="/ppt/slides/slide5.xml" Id="R4df82e7217e341c3" /><Relationship Type="http://schemas.openxmlformats.org/officeDocument/2006/relationships/slide" Target="/ppt/slides/slide6.xml" Id="R8a2192d5060d4c90" /><Relationship Type="http://schemas.openxmlformats.org/officeDocument/2006/relationships/slide" Target="/ppt/slides/slide7.xml" Id="Rcedaa7bb16ed40cd" /><Relationship Type="http://schemas.openxmlformats.org/officeDocument/2006/relationships/slide" Target="/ppt/slides/slide8.xml" Id="R7dd674be8f48492b" /><Relationship Type="http://schemas.openxmlformats.org/officeDocument/2006/relationships/slide" Target="/ppt/slides/slide9.xml" Id="Rb676b611e22d4fca" /><Relationship Type="http://schemas.openxmlformats.org/officeDocument/2006/relationships/slide" Target="/ppt/slides/slide10.xml" Id="R1f5512b433b14522" /><Relationship Type="http://schemas.openxmlformats.org/officeDocument/2006/relationships/slide" Target="/ppt/slides/slide11.xml" Id="R01f88bdf684f47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b92c0c9c8334c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e94368ce544505" /><Relationship Type="http://schemas.openxmlformats.org/officeDocument/2006/relationships/notesMaster" Target="/ppt/notesMasters/notesMaster1.xml" Id="R290d3280f94f40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53df66d72049f8" /><Relationship Type="http://schemas.openxmlformats.org/officeDocument/2006/relationships/notesMaster" Target="/ppt/notesMasters/notesMaster1.xml" Id="R0a0cd54944354c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84e586fb92472b" /><Relationship Type="http://schemas.openxmlformats.org/officeDocument/2006/relationships/notesMaster" Target="/ppt/notesMasters/notesMaster1.xml" Id="R97fdb3414e9744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9819476b0b4bbc" /><Relationship Type="http://schemas.openxmlformats.org/officeDocument/2006/relationships/notesMaster" Target="/ppt/notesMasters/notesMaster1.xml" Id="R670254c0f2a746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a90fb263994426" /><Relationship Type="http://schemas.openxmlformats.org/officeDocument/2006/relationships/notesMaster" Target="/ppt/notesMasters/notesMaster1.xml" Id="R79396bb1584f42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0e2aca5e2c40df" /><Relationship Type="http://schemas.openxmlformats.org/officeDocument/2006/relationships/notesMaster" Target="/ppt/notesMasters/notesMaster1.xml" Id="Rbee41c27ab4c44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abdc6d51e446bb" /><Relationship Type="http://schemas.openxmlformats.org/officeDocument/2006/relationships/notesMaster" Target="/ppt/notesMasters/notesMaster1.xml" Id="Reab006862c1947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18a38385ec4043" /><Relationship Type="http://schemas.openxmlformats.org/officeDocument/2006/relationships/notesMaster" Target="/ppt/notesMasters/notesMaster1.xml" Id="Rf16c76dc0a1642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fe63e662664900" /><Relationship Type="http://schemas.openxmlformats.org/officeDocument/2006/relationships/notesMaster" Target="/ppt/notesMasters/notesMaster1.xml" Id="R1a153a93302743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c5274a09184e91" /><Relationship Type="http://schemas.openxmlformats.org/officeDocument/2006/relationships/notesMaster" Target="/ppt/notesMasters/notesMaster1.xml" Id="R24a9671133004c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144985ad2e4985" /><Relationship Type="http://schemas.openxmlformats.org/officeDocument/2006/relationships/notesMaster" Target="/ppt/notesMasters/notesMaster1.xml" Id="R3f8903d5c2cb40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9959a3ac3459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c87677b9bde4749" /><Relationship Type="http://schemas.openxmlformats.org/officeDocument/2006/relationships/slideLayout" Target="/ppt/slideLayouts/slideLayout2.xml" Id="R2b06b7d682df45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06b7d682df45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c4ea3a61834288" /><Relationship Type="http://schemas.openxmlformats.org/officeDocument/2006/relationships/notesSlide" Target="/ppt/notesSlides/notesSlide1.xml" Id="R8de57752328744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d16a2469ae46ca" /><Relationship Type="http://schemas.openxmlformats.org/officeDocument/2006/relationships/notesSlide" Target="/ppt/notesSlides/notesSlide2.xml" Id="Rd48d771d931f4e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ffce0b2d3d47fc" /><Relationship Type="http://schemas.openxmlformats.org/officeDocument/2006/relationships/notesSlide" Target="/ppt/notesSlides/notesSlide3.xml" Id="Re3d5d0f19f4b4b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c448c3c36d4c94" /><Relationship Type="http://schemas.openxmlformats.org/officeDocument/2006/relationships/notesSlide" Target="/ppt/notesSlides/notesSlide4.xml" Id="R6fb6b9faecb94e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faa4cdff0942b1" /><Relationship Type="http://schemas.openxmlformats.org/officeDocument/2006/relationships/notesSlide" Target="/ppt/notesSlides/notesSlide5.xml" Id="R6fcee89a2abc48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cc80e891294697" /><Relationship Type="http://schemas.openxmlformats.org/officeDocument/2006/relationships/notesSlide" Target="/ppt/notesSlides/notesSlide6.xml" Id="R6d8cabddbb2d42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0c729211504b3d" /><Relationship Type="http://schemas.openxmlformats.org/officeDocument/2006/relationships/notesSlide" Target="/ppt/notesSlides/notesSlide7.xml" Id="R67caa3a36ee948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0aa1952bab4c92" /><Relationship Type="http://schemas.openxmlformats.org/officeDocument/2006/relationships/notesSlide" Target="/ppt/notesSlides/notesSlide8.xml" Id="R93b43f16cab74e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9ee6b6b6124ef5" /><Relationship Type="http://schemas.openxmlformats.org/officeDocument/2006/relationships/notesSlide" Target="/ppt/notesSlides/notesSlide9.xml" Id="R6ecb2c92645c42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658257f4614574" /><Relationship Type="http://schemas.openxmlformats.org/officeDocument/2006/relationships/notesSlide" Target="/ppt/notesSlides/notesSlide10.xml" Id="R92d86d69b3d943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8ab78d70ba47c0" /><Relationship Type="http://schemas.openxmlformats.org/officeDocument/2006/relationships/notesSlide" Target="/ppt/notesSlides/notesSlide11.xml" Id="R14c6ab87503b4d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EAA29345-7D14-41E6-9FAD-6EFC37C8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1620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74822-7D25-46A5-9167-39E01474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111923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7CB73DF-4387-45F3-B1EA-6922C612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CDF3D7-B579-415F-82EE-58732BFF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9E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E6F2"/>
                </a:solidFill>
                <a:latin typeface="Aptos"/>
                <a:ea typeface="Aptos"/>
                <a:cs typeface="Aptos"/>
              </a:rPr>
              <a:t>PROJECT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811E5-5E02-4878-903C-4A735DD4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5334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RNA-seq report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as a portable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browser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7BFED-E5D3-41EE-BB3C-D50F1D56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6D3DF"/>
                </a:solidFill>
                <a:latin typeface="Aptos"/>
                <a:ea typeface="Aptos"/>
                <a:cs typeface="Aptos"/>
              </a:rPr>
              <a:t>A static HTML report that can ship with count data, compute first-pass visualizations, and optionally run DESeq2 plus fgsea through webR.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29DE5-B30A-49B8-AF87-7B043E05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3244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69C48-9784-4315-AB15-1FC8C519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16893-1479-4040-8838-D0226401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76550"/>
            <a:ext cx="4419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75D7D-4111-4087-B5D1-947F649E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81350"/>
            <a:ext cx="4419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6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6E3"/>
                </a:solidFill>
                <a:latin typeface="Aptos"/>
                <a:ea typeface="Aptos"/>
                <a:cs typeface="Aptos"/>
              </a:rPr>
              <a:t>The deliverable is not another pipeline step. It is the handoff surface: one file for review, one data contract for reproducibility, and one optional browser workbench for small exploratory analyses.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7BBB7-2E5D-4DE9-9D89-EE0BDE6C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95875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6471A-6CF7-4692-BE40-9F9F8038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768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 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9AC49-1B0B-4681-902C-A8592C66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76875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6D3DF"/>
                </a:solidFill>
                <a:latin typeface="Aptos"/>
                <a:ea typeface="Aptos"/>
                <a:cs typeface="Aptos"/>
              </a:rPr>
              <a:t>DELIVERY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46E7D-CE14-49E2-8BED-B02897F2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4832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FB0C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FB0C0"/>
                </a:solidFill>
                <a:latin typeface="Aptos"/>
                <a:ea typeface="Aptos"/>
                <a:cs typeface="Aptos"/>
              </a:rPr>
              <a:t>standalone builder embeds data and app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5B6B4-EA34-41F3-89D1-EFA43E84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C8606-EF73-4795-A228-D2C47769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768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50 pkgs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4BA82-3550-4E96-94DF-E6A4D68A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76875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6D3DF"/>
                </a:solidFill>
                <a:latin typeface="Aptos"/>
                <a:ea typeface="Aptos"/>
                <a:cs typeface="Aptos"/>
              </a:rPr>
              <a:t>WEBR SNAPSHOT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E2E92-AA09-4097-BE66-AD775C85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4832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FB0C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FB0C0"/>
                </a:solidFill>
                <a:latin typeface="Aptos"/>
                <a:ea typeface="Aptos"/>
                <a:cs typeface="Aptos"/>
              </a:rPr>
              <a:t>DESeq2/fgsea dependency closure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03760-FB98-4764-89DA-62652C17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95875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solidFill>
              <a:srgbClr val="168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52F9C-93AE-4042-812C-063D74B0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0768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18 samples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F2F89-8FDC-4FDA-B9A4-220F3713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476875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6D3DF"/>
                </a:solidFill>
                <a:latin typeface="Aptos"/>
                <a:ea typeface="Aptos"/>
                <a:cs typeface="Aptos"/>
              </a:rPr>
              <a:t>PUBLIC FIXTURE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CA0CB9-C36C-46B2-B54B-0C68FD64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4832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FB0C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FB0C0"/>
                </a:solidFill>
                <a:latin typeface="Aptos"/>
                <a:ea typeface="Aptos"/>
                <a:cs typeface="Aptos"/>
              </a:rPr>
              <a:t>GSE164073 multi-factor 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1CD63-79A4-4285-A1C1-49B27DC1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34542D-90BC-4AE7-98A1-9E69E51F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Source: README.md, assets/report_config.json, GitHub Actions run 25970943003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FCB702-78D0-49FF-A3A9-5A5991A2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85593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BED4613-3E82-4813-8F6D-C245FEA0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F0E6489-D7C8-4F76-ABBC-2CFE386C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EEE6809-66AF-4002-A8C5-BC108B1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HANDOFF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5E602-175A-4815-AD39-4D501B93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The analysis is reproducible, but the first review session is still too fragile.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71A80-4A68-4FFC-8BD8-0FD2C93F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33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The project focuses on reducing handoff friction after an RNA-seq pipeline finishes: colleagues should not need a local server, R installation, or notebook context just to inspect the first report.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5E57F-73DA-4F1F-98B6-1364BD43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Current friction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08A1D-BA30-4899-8C7B-437D0E9E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2887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Target 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A5C94-4B1E-4BDD-AAAD-6E4DF45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9C4A6-7A85-4E10-8389-9ED69E46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952F5-F5FE-473C-8A53-1EBE0B59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562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Pipeline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57E03-4BF7-4603-AC3A-D020D034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7075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count matrix, QC, DE tables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3097D-4025-40F3-9454-04B2F351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7E7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EFB4F-8276-46C8-AF4D-E74D00FE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73CBD-EBC8-48F5-A72F-C5F7AB2E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3562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Local setup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3F5A0-36F9-4221-855F-1DB2C1A2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3825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server, notebook, R packages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D31AD-D965-456F-9A91-F2A68FD8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95CD4-7DF8-4BED-BC2E-96890B26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4DD1D-F44A-45B5-AA8F-21C0FA26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3562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1764C-1935-41FF-ADC7-7EFC388B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static plots split from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8F80C-E438-4B4D-992A-087DCA4A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E8F71-AA80-4471-B153-33D561DF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A6B61-FE13-4113-BF63-7BB15E1A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3562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Follow-up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738BD-7154-46E6-8420-CD67A495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67325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rerun or re-export for small questions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7CA74-AE57-41B4-B491-0756FA60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31529-9A79-4EE3-ACFC-9D64B9EE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A7C9D-8DAA-4C2E-B3B8-9D32D7C4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9900"/>
            <a:ext cx="3562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Pipeline 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E6300C-EDB1-4CF3-BE99-BBD24768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67075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same count matrix and assets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6F6E3A-973F-4E50-B146-CFF2E1DD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E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764F8A-F7A1-49CF-A878-9783D28F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solidFill>
              <a:srgbClr val="1686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B44159-96DA-44AA-8BDA-9350B173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76650"/>
            <a:ext cx="3562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B54D56-9FD7-40E6-842F-51ED6677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33825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single HTML with embedded 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7DFB2-5F6D-48B4-BA47-BA390A23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E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E43719-2BD3-43CC-A125-1A88260D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solidFill>
              <a:srgbClr val="16865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641F8E-541F-4DA3-AAF0-75F7E140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43400"/>
            <a:ext cx="3562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B2E661-EA0C-4694-843C-BF705EE2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00575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interactive PCA, heatmap, tables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FA465D-4F22-48D9-A83D-911CB102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5775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E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55C7E5-1607-4A6A-B893-EB4F62F5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5775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solidFill>
              <a:srgbClr val="16865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B67032-7189-45BA-B235-DA4C1568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10150"/>
            <a:ext cx="3562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EA4886-EBF2-4632-BBF5-F13672B1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67325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manifest-driven DESeq2 and fgsea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B3E5C7-BE30-486A-9169-D02B2308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57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C70789-69A2-45C5-857F-7BB6426E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62350"/>
            <a:ext cx="1476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replace setup with</a:t>
            </a:r>
          </a:p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portable review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896755-8823-4C5C-A799-09857B90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68301E-4B6F-4EB5-8139-64C0C74D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Source: README.md End-User Delivery and Local Preview sections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7B432A-2F56-4758-B16D-EFAC85F8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577305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5576E1A8-7FBD-4A1D-B848-D6A5622D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1A6381D-ADE0-437D-BE0F-CE754D23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C9EF4A-2882-4BA3-B831-0E3BD8B2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USER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A9597-7021-4B20-A8B5-3B2B1770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Defaults get the report open; the sample manifest unlocks real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E25DE-D222-4E4D-B3F6-4502E461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152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5315D-547F-48C4-B192-79966470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419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0708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60708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8C0F4-A5C0-48F2-8980-49DF86D3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Count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3B781-9680-467D-A924-5598FCF9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Minimum buildable input. Sample IDs can be inferred from numeric columns.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73CF5-F3CE-4F79-907C-F89A52CC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290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D3C7E-DBA4-4FC3-A221-8AFDE67D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2152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C4E97-6E14-496B-B54B-D096FFE8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419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0708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60708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35F8E-E1BB-45DD-AE53-6B5406D8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Report opens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95C5C-840F-4B37-9197-849704B8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PCA, distance, count previews, QC, and heatmap can render from embedded assets.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F6ACB-30C9-417D-87BA-BB2C773A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290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F8B8E-6E4C-42E9-A157-512B96E3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19350"/>
            <a:ext cx="2152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6F17C-986D-4A6D-81B6-6CBC329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19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2E32D-4EF9-42F3-88BD-75C1E0DF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Manifest added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9FFEE-3AFE-4E61-AEE9-D66CA96C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Metadata columns drive PCA color/shape, annotations, and contrast setup.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BBEA2-A8AC-43D1-A537-6F497846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19030-94E3-448E-9110-2987EF67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19350"/>
            <a:ext cx="2152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051DD-CA52-4C45-A3CE-BC92FBA4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90800"/>
            <a:ext cx="419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E69A49-768B-4ABD-97E0-0E1612E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Browser analysis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F25CCD-FA31-475D-B94C-F93B7F66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DESeq2 and fgsea run in webR for small exploratory runs.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EFF89F-2416-4E80-A7BF-23BA30A9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1012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0">
            <a:solidFill>
              <a:srgbClr val="F0E8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F93EB-E96D-4A96-BCD0-D95B6EA2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5775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metadata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2D9F51-7F02-46FB-86FF-85FB1F3B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23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This matches the intended context: the delivered HTML can already contain the count matrix and default plots; users only need metadata for new biological contrasts. A new count matrix is allowed, but it must come with matching metadata.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DF7283-EBD9-432F-A645-8792A962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7EACFE-DC22-4628-9C63-C4DAF86C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Source: README.md Data Model; assets/js/userData.js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7A9601-7686-4CC6-97B7-66441ED9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88687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E4AB6BB7-BC5C-4B1B-82E6-7D5736FD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26CEBF3-A0A0-4B2A-B784-EF1325F6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129958-454F-4E11-BC98-7AE01CCE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PRODUCT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C5A8E-4461-4CED-A757-C1F15832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The app is a report, with just enough workbench behavior for first-pass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E43FB-33C6-4C9A-ADE9-20A679E0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13832-B4A0-46E4-AA3F-22F4791E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User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15C7A-C97F-43D3-B4E8-8DD5A95B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06EB0-8B60-45A6-B94E-EBC4C54F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59B27-A5C4-4318-9477-3E688987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9535D-82D3-44BC-96A0-8E763A3C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D30E0-CAC7-4FE6-A356-BE5E137A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Overview/QC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15BF4-90B9-4D21-A7E1-4494E1EC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Did the run pass basic quality checks?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CE0B4-8CF2-4043-B95D-8E5E5D70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QC thresholds plus normalized pipeline summary metrics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CF6F7-8D84-4E64-A3B7-059172C6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0982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E"/>
          </a:solidFill>
          <a:ln xmlns:a="http://schemas.openxmlformats.org/drawingml/2006/main" w="0">
            <a:solidFill>
              <a:srgbClr val="E6F4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0D105-B20C-4A89-8AB7-0A756C76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574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865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6865C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F29EB-5074-4E59-8824-91B5D1D4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25427-CE53-45D5-9CFE-9A353A82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61192-5D5F-441C-8163-840FAFEB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527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Do samples separate by condition, tissue, batch, or sex?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AC519-E099-4F36-92A3-3E8722C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Plotly 2D/3D PCA; separate ggplot-like color and shape guides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0555E-DC74-4F06-87A9-1DACBA48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8132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E"/>
          </a:solidFill>
          <a:ln xmlns:a="http://schemas.openxmlformats.org/drawingml/2006/main" w="0">
            <a:solidFill>
              <a:srgbClr val="E6F4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29707-8937-4720-821D-0517B6EC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289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865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6865C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479D4-9C11-4112-8E56-56D0BB66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F24BC-CD6E-4495-9AAD-9485478F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Clustering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6EF99-4932-44ED-8B31-C3E4AB15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Which genes drive sample structure?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3E50A1-8715-4CD4-BC91-9F22D366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Clustergrammer-JS heatmap, custom gene list, row/column clustering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6A9D7A-A286-44BE-884D-94A1B635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5282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E"/>
          </a:solidFill>
          <a:ln xmlns:a="http://schemas.openxmlformats.org/drawingml/2006/main" w="0">
            <a:solidFill>
              <a:srgbClr val="E6F4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C54D90-E0C3-4446-88AD-3FF8AB50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004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865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6865C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12FEF7-76BC-4692-81E6-E72DBE58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21AF2D-67E1-4A51-8469-075D9F14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54E52A-7925-4A14-A62E-125B3235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What changes between two metadata-defined groups?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D52B2C-7290-4AC4-85BE-7793C820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957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Browser DESeq2 with one primary factor plus optional covariates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203CB2-16F8-4B71-BCB5-84380B12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2432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FFF2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CB4A9E-B948-4182-B726-2013CC97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719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601A71-6B12-401E-9721-BC5A1D96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4C0C62-83E0-4515-911F-888EF466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Enrichment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A922F3-B235-4A72-8890-E33CA796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Which pathways are enriched from a contrast?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0F26EC-67CB-47DA-8832-5B123F61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672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fgsea from selected DE result; hg38/mm10 or uploaded GMT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0CF36A-9BCE-4EE5-BBA8-9CF88C2D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9582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FFF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CA5242-FEBF-4611-9160-494FFE97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434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31E1E5-AC5D-4AEB-B399-4AA64769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32F790-A148-4F55-BE68-342E7E66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Package snapshot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8E7C00-81A6-4861-ACB2-D76B8B6F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Can wasm dependencies be inspected and mirrored?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FBB5FB-181B-41C6-8719-E8AD6276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387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Versioned package repo plus downloadable snapshot ZIP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B30B33-9D10-4B99-B435-0D560845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6732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0">
            <a:solidFill>
              <a:srgbClr val="F0E8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8D29E9-F692-47E7-90B1-299831E0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149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hardened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9B99AD-C360-4A60-AB6F-CD49A872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DC872F-3532-43C3-9F4C-145E0463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Source: README.md Repository Contents and Optional webR Modules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1D2AE4-35D0-4C4B-A758-F78A96EA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6468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B2DEB1AA-1323-44EC-83D3-0CD263E7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16202A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9C5024-7ECD-4D1F-88F1-ADDBED4C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BA824CC-32A0-4965-90D7-4983C901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9E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E6F2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28B93-7084-4350-9CB9-01ADC734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architecture is static, but the browser runtime is doing real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7FCC2-C58B-4A63-ACB2-7A7B88D6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3B4B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DD68A-7858-48CB-8889-2F26A1E9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335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Pipeline or builder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38853-BB97-4610-BF6C-71A8D5B7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335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6D3DF"/>
                </a:solidFill>
                <a:latin typeface="Aptos"/>
                <a:ea typeface="Aptos"/>
                <a:cs typeface="Aptos"/>
              </a:rPr>
              <a:t>counts.csv, manifest, QC, DE, enrichment,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69D1B-8DB2-44BA-A2FB-A7B363B2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2410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915CA-B051-4817-8824-1A022BE1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3B4B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B306B-9E45-488A-BC72-4439A93B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765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Static report shell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D381A-476B-4525-B552-3E8B8FCD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7652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6D3DF"/>
                </a:solidFill>
                <a:latin typeface="Aptos"/>
                <a:ea typeface="Aptos"/>
                <a:cs typeface="Aptos"/>
              </a:rPr>
              <a:t>index.html, CSS, JS modules, embedded assets in standalone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F06D4-556D-40A6-AC9A-EBE267A9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670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FD61A-EE2B-4789-88EA-54ED0D36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3B4B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1A934-9035-43E2-A39C-A52BE389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194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Browser computation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1A432-1E20-42E2-A5A7-273F265B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194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6D3DF"/>
                </a:solidFill>
                <a:latin typeface="Aptos"/>
                <a:ea typeface="Aptos"/>
                <a:cs typeface="Aptos"/>
              </a:rPr>
              <a:t>PCA fallback, distances, Plotly plots, DataTables, Clustergrammer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36ADF-755C-4C53-BC2C-7006DC9F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1000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859A3-BD90-4D34-98A3-B631224C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340"/>
          </a:solidFill>
          <a:ln xmlns:a="http://schemas.openxmlformats.org/drawingml/2006/main" w="9525">
            <a:solidFill>
              <a:srgbClr val="3B4B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5E207-5767-48BA-932C-AC6CC265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Optional webR 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90221-3E4B-49B6-831E-B50D71DF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6242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6D3DF"/>
                </a:solidFill>
                <a:latin typeface="Aptos"/>
                <a:ea typeface="Aptos"/>
                <a:cs typeface="Aptos"/>
              </a:rPr>
              <a:t>DESeq2 and fgsea installed from pinned package snapshot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556F2-8E49-497A-9419-6C86A6D8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5529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DB790-2248-412B-B835-0E3A49DC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A31"/>
          </a:solidFill>
          <a:ln xmlns:a="http://schemas.openxmlformats.org/drawingml/2006/main" w="9525">
            <a:solidFill>
              <a:srgbClr val="3B4B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E1500-BD19-4353-8C43-023FF064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053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GitHub Pages artifacts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E0C97-ABCA-43AD-8542-EE37F604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053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6D3DF"/>
                </a:solidFill>
                <a:latin typeface="Aptos"/>
                <a:ea typeface="Aptos"/>
                <a:cs typeface="Aptos"/>
              </a:rPr>
              <a:t>report site, webr-packages/v0.1.0, snapshot ZIP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41D0D-8E0F-4EB6-8F01-5C8C2119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D41B1-B346-40DE-9AE4-F67A5C64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v0.5.9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D0BED-C45D-4431-B6E0-ED40BC65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67400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6D3DF"/>
                </a:solidFill>
                <a:latin typeface="Aptos"/>
                <a:ea typeface="Aptos"/>
                <a:cs typeface="Aptos"/>
              </a:rPr>
              <a:t>WEBR RUNTIME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10E9DA-8E38-4FAE-B316-380F871B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38850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FB0C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FB0C0"/>
                </a:solidFill>
                <a:latin typeface="Aptos"/>
                <a:ea typeface="Aptos"/>
                <a:cs typeface="Aptos"/>
              </a:rPr>
              <a:t>pinned in report config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136CA4-3578-4593-A1A7-C21A9767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79FA3-F74F-4435-9FA1-3FFE1819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4673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v0.1.0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CA7B25-DDB8-4FAE-908A-219937B4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867400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6D3DF"/>
                </a:solidFill>
                <a:latin typeface="Aptos"/>
                <a:ea typeface="Aptos"/>
                <a:cs typeface="Aptos"/>
              </a:rPr>
              <a:t>PACKAGE REPO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A723E4-BC35-4C31-B28B-08C89A56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38850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FB0C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FB0C0"/>
                </a:solidFill>
                <a:latin typeface="Aptos"/>
                <a:ea typeface="Aptos"/>
                <a:cs typeface="Aptos"/>
              </a:rPr>
              <a:t>immutable path, manual overwrite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28C1F8-33FC-442C-B619-C34CE0A9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solidFill>
              <a:srgbClr val="16865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150D82-2EE0-4CBC-8EDC-50D8F342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673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A98562-471A-4F23-8139-B768A527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67400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6D3DF"/>
                </a:solidFill>
                <a:latin typeface="Aptos"/>
                <a:ea typeface="Aptos"/>
                <a:cs typeface="Aptos"/>
              </a:rPr>
              <a:t>COMPILED PACKAGES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656376-EA3F-449D-B0C6-A56AD21D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038850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FB0C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FB0C0"/>
                </a:solidFill>
                <a:latin typeface="Aptos"/>
                <a:ea typeface="Aptos"/>
                <a:cs typeface="Aptos"/>
              </a:rPr>
              <a:t>DESeq2 plus fgsea closure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75AFD2-6BF4-48AD-80A0-712D6422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5A3406-085D-410E-BD08-A48E093C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673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 backend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CBDCB4-9C6F-40E2-8048-F612C9D2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67400"/>
            <a:ext cx="1762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6D3DF"/>
                </a:solidFill>
                <a:latin typeface="Aptos"/>
                <a:ea typeface="Aptos"/>
                <a:cs typeface="Aptos"/>
              </a:rPr>
              <a:t>RUNTIME SERVER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DC374C-0DB2-4B72-9057-786FC288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38850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FB0C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FB0C0"/>
                </a:solidFill>
                <a:latin typeface="Aptos"/>
                <a:ea typeface="Aptos"/>
                <a:cs typeface="Aptos"/>
              </a:rPr>
              <a:t>static hosting 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FCC94F-0A82-4172-8943-8C156553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363841-4ABC-4DFD-8444-742BACB1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Source: assets/report_config.json, .github/workflows/deploy-pages.yml, scripts/build_standalone_report.py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ED71A8-2440-408B-9EAB-63F4EF1B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97490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E6076BFD-21B1-4A41-9E72-27D8EF67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2DBEF0E-397A-4417-B690-CBA340ED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7D19A4B-A479-4AE7-B259-2AEDB3F8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DATA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44AB1-5121-4548-BCAD-6DD5A5B0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The same app can degrade gracefully from counts-only to a full pipeline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19856-29FA-4711-8145-694EDB08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321BA-C96A-4278-AF5B-7A65802C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28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Counts-only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4F7A5-F2BA-498E-8989-84400C14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288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With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8B137-ED61-46AF-BFEC-F5417810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Pipeline-rich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11B40-8867-49E9-A0BF-E8961C23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Use in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91B71-A677-4A96-9C66-C9D130F9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B1B2B-66B7-4400-906D-A6986DDC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2130C-18DB-4AEE-B42F-5F42DCC7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counts.csv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F93AA-2AD9-43A7-9D2A-F145ACA1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DFAF5-4D7A-4FCA-8793-FD2AD2AD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00B47-4048-47AC-8E0A-24FE06E8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D365F-824E-4A0A-A865-CEED6162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gene counts, PCA fallback, heatmap, DE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4970B-CDDB-47E7-8DB1-F8FA1B8D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D36C4-D266-48D9-80AC-6B33C584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sample_manifest.csv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B6203-00B1-4867-B1A3-8D1A2AB4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inferred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EA561-5211-4AD7-89EC-B7A8C2FB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required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F4497-ABE0-42F8-B163-75765A3E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required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92063C-DC0D-4EDB-8981-7FBB8FE7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metadata, color/shape, contrasts, covariates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73238-446E-46BA-B0A0-FD23BFAF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A223CC-96F1-485E-AB7D-3FA01B0A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qc_metrics.*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97F7BB-37C3-4168-8907-F2C373FA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optional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C9546-1CA9-41F3-9A56-D9DBF178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optional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8CDAB1-2BDE-4117-8C32-5CEABDD3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preferred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5EDE51-A921-47DF-A999-46356522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QC badges, summary plots, pipeline checks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1258E6-4A75-4874-9803-A114EC1D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5B5136-84CB-4F8D-8291-53CD66F8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pca.json / distance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0EC837-4652-49C3-BFDE-8617DF8C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81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computed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08846-F43B-47D1-9528-F860D4FC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814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computed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2A6905-62A3-403B-A451-BC5869E2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preferred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0D7C38-858C-49C1-8351-B2C86542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load precomputed values when available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099541-43D2-4542-ADA6-F08B08BC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15D1C1-1779-4742-870D-E3883060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DE / enrichment CSV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FEB2DA-F29A-439B-9FF0-0352C930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not used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9C0943-370B-4484-BA0D-F3DC5B44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339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8FAAF9-E732-41CB-8A5D-E7859B69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preferred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50D74E-D1F5-44ED-B909-CAC6B645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display pipeline-approved statistics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625AF0-4F87-4101-B240-9DFCB4F7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324E8E-F88B-43EE-BA72-E22FE018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logs/*.json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B768F5-A8C1-41B7-955C-DAC49D05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863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optional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8DDDCA-64B1-48AF-9DA9-64E716C4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863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optional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AC252B-CDF9-4FEA-9E50-C76840CB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preferred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187F15-6510-4094-834A-B021F387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863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provenance and software version trace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95D201-EA73-4F42-B309-B7BB1EA5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02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E8F0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517EFF-7857-4252-B756-186D6241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57875"/>
            <a:ext cx="2571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builder can read qc_metrics.xlsx Summary sheet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C1604C-93A0-4604-A3DC-C6840745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102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E"/>
          </a:solidFill>
          <a:ln xmlns:a="http://schemas.openxmlformats.org/drawingml/2006/main" w="0">
            <a:solidFill>
              <a:srgbClr val="E6F4E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7B43B8-7604-4F41-9333-3AEA7AD1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57875"/>
            <a:ext cx="1762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865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6865C"/>
                </a:solidFill>
                <a:latin typeface="Aptos"/>
                <a:ea typeface="Aptos"/>
                <a:cs typeface="Aptos"/>
              </a:rPr>
              <a:t>sample_id is the join key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21DB49-9A41-4344-8A99-4380EA34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8102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0">
            <a:solidFill>
              <a:srgbClr val="F0E8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BC27C3-E993-42BC-A56A-630AE12B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57875"/>
            <a:ext cx="295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gene_id / gene_symbol drive gene-level results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CA21AB-95C1-42A5-B350-659F703B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FF80E0-20B5-4A1C-B0DB-9F0BE580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Source: README.md Data Model and QC metrics sections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1A8448-D5CC-41FE-BB08-D332B526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82527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1586EB96-B052-4F4B-BFE6-B74829FE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FAFBFD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2643713-DE05-4923-A58D-527599D3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AC7A3D-123F-45CA-9325-AFCE4D87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BROWSER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CAAB9-6E1E-4B10-9213-0CDA6764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Browser-side statistics are scoped as exploration, with production results still upstream.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8287F-F57D-44AD-926B-CE2969AD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47ED0-EA64-4B28-93CF-F1A60F0A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262BE-ABA2-4EC0-B371-14813AA1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F9112-392D-4962-8DFE-C3ED7BE7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4419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log2(CPM + 1)</a:t>
            </a:r>
          </a:p>
          <a:p xmlns:a="http://schemas.openxmlformats.org/drawingml/2006/main">
            <a:pPr algn="l">
              <a:defRPr sz="86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2D/3D Plotly; color and shape legends separated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D1797-B0D0-4644-9504-F97D1100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2407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E"/>
          </a:solidFill>
          <a:ln xmlns:a="http://schemas.openxmlformats.org/drawingml/2006/main" w="0">
            <a:solidFill>
              <a:srgbClr val="E6F4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B070A-CFB0-40FD-A419-37EA5858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71700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865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6865C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D0A4E-4A3C-47B6-AFA6-EB0FBAF5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C07D7-660C-499C-BAD0-2E626386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98E0D-BC32-4F68-B980-F25F439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05025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Heatmap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92585-F195-40E8-AAF1-7276E543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9825"/>
            <a:ext cx="4419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log2(CPM + 1) or row z-score</a:t>
            </a:r>
          </a:p>
          <a:p xmlns:a="http://schemas.openxmlformats.org/drawingml/2006/main">
            <a:pPr algn="l">
              <a:defRPr sz="86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Clustergrammer-JS; custom gene list; row/column clustering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5C03E-BF55-4525-AC2F-9B35A030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2407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E"/>
          </a:solidFill>
          <a:ln xmlns:a="http://schemas.openxmlformats.org/drawingml/2006/main" w="0">
            <a:solidFill>
              <a:srgbClr val="E6F4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6CBB0-5D48-43A3-B570-40160D36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865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6865C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8AAED-0B97-4F5A-BCB0-B3ACB383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5FF84-A9B4-424A-9169-74AC6250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0327C-C586-4ED8-98D2-4C519B76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DESeq2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8E3E0-2980-40B3-9389-6DE90C2C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4419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~ covariates + primary factor</a:t>
            </a:r>
          </a:p>
          <a:p xmlns:a="http://schemas.openxmlformats.org/drawingml/2006/main">
            <a:pPr algn="l">
              <a:defRPr sz="86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two-group contrast; optional blocking/covariates; full-rank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FF8EE-257C-4D16-A5E8-734729A5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909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0">
            <a:solidFill>
              <a:srgbClr val="F0E8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5AEE5-FB29-423A-A5D1-967CA6DF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38575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5FF32-F6D8-42C8-AAD2-8F46BEDF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1E1265-B693-4A30-B6C4-3EC7D30F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A22DD-4309-4ABB-B05D-2BE29586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fgsea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728504-13D6-473B-B8C0-3756561C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76700"/>
            <a:ext cx="4419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preranked from selected DE result</a:t>
            </a:r>
          </a:p>
          <a:p xmlns:a="http://schemas.openxmlformats.org/drawingml/2006/main">
            <a:pPr algn="l">
              <a:defRPr sz="86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hg38/mm10 GMT or uploaded GMT; uses gene_symbol then gene_id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02951-8101-448F-A334-8D2BBC16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909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0">
            <a:solidFill>
              <a:srgbClr val="F0E8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5E80BE-F52D-4EF4-8696-CB45777B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38575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97C26-43F6-433D-BDE1-01C4AD0C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5AD3B3-DB7D-4D60-9F47-834DAEB7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57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solidFill>
              <a:srgbClr val="16865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1943F8-EE92-48AD-A7F2-66A03078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95900"/>
            <a:ext cx="8229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6889AE-C3A3-41A1-8E8F-C7255B92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007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C8D6E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C8D6E3"/>
                </a:solidFill>
                <a:latin typeface="Aptos"/>
                <a:ea typeface="Aptos"/>
                <a:cs typeface="Aptos"/>
              </a:rPr>
              <a:t>The deck should position browser DESeq2/fgsea as small exploratory runs. For final statistics, the pipeline should export mature, reviewed DE and enrichment results into the same report.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6CA94C-FE14-48A6-94E7-2E1DC687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24A847-ADF6-4290-B298-EAD6C916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Source: assets/js/deseq2.js, assets/js/fgsea.js, assets/js/heatmap.js, README.md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1D08ED-C892-4D3F-823B-D91D7760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64865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7688C3BE-2D4A-4F38-B288-7CF673F9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6D3628D-3BA1-4770-9821-616CC6FE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39B37A-7C60-4AFB-AC0C-79A40A06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PACKAGE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0F556-503B-4060-8D01-F351EBA5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The fgsea failure turned the package repo into a release artifact.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C4414-DF3E-4E26-B4BC-DB291ED9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7E7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C578D-5BF4-4176-9709-0A18DC72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08F7F-8696-4F74-96AF-1275FE0B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800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8FF57-E9DE-49B2-993E-1914CBEA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8003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fgsea was present, but fastmatch and data.table came from a fallback repo. The mixed wasm binaries produced an R_registerRoutines signature mismatch.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CDFE8-4883-4B6E-A238-849086D5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240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B0D54-C76A-444B-B4AD-D1F8D3FD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240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C41CC-A87B-408B-8B9C-445E4872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76450"/>
            <a:ext cx="2800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39BD4-A9C8-4C85-9186-731B7935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81250"/>
            <a:ext cx="28003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Pin webR runtime and builder image to v0.5.9. Build DESeq2, fgsea, and hard dependencies into one report-scoped v0.1.0 package repository.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C4E0B-81B6-41C6-A037-8119DEA6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E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A1699-89FC-4CBA-8F0A-48CFBEFF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solidFill>
              <a:srgbClr val="1686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CF56D-9CCE-473A-B15D-81F02028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2800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125A1-86BB-40BE-9919-988B101C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81250"/>
            <a:ext cx="28003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The hosted package index now contains 50 packages, including DESeq2, fgsea, fastmatch, and data.table. The manual overwrite workflow completed successfully.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850EA-B054-4A64-A2C9-8902B76D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196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Top-level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1EA0C-8687-4115-8CFF-081AE7C6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48200"/>
            <a:ext cx="3714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E"/>
          </a:solidFill>
          <a:ln xmlns:a="http://schemas.openxmlformats.org/drawingml/2006/main" w="0">
            <a:solidFill>
              <a:srgbClr val="E1E7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09105-C361-4996-8B90-3C1947AB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48200"/>
            <a:ext cx="21227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AB19D-CFFB-4E14-A27A-16B2178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610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ACAF4-48A1-4751-9409-7E5AFDC1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434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Bioconductor deps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B2DAA-AB60-4ACC-9978-4079DEB9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972050"/>
            <a:ext cx="3714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E"/>
          </a:solidFill>
          <a:ln xmlns:a="http://schemas.openxmlformats.org/drawingml/2006/main" w="0">
            <a:solidFill>
              <a:srgbClr val="E1E7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5BC94-AC9D-4F5B-9032-37012E92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972050"/>
            <a:ext cx="1379764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D0B783-2D39-46D7-85FA-B31DBA6F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33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181EF5-D1C5-410C-9051-42980716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673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CRAN deps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2E5F73-D822-44A7-9963-858F4C96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295900"/>
            <a:ext cx="3714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E"/>
          </a:solidFill>
          <a:ln xmlns:a="http://schemas.openxmlformats.org/drawingml/2006/main" w="0">
            <a:solidFill>
              <a:srgbClr val="E1E7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BDDDCB-C1BA-4844-BEBF-94363C4B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295900"/>
            <a:ext cx="3714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solidFill>
              <a:srgbClr val="1686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02E9FB-F473-4010-BE28-756062D4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257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3B4FC5-3B01-4703-BFE5-A18CF445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Release rule: do not mix compiled wasm dependencies across package repos when native code is involved.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86ED44-B416-4349-8AFE-D2A6991B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085247-9AD9-43D1-A5A8-17974109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Source: hosted v0.1.0 PACKAGES index; GitHub Actions run 25970943003; assets/report_config.json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AE78D4-311A-404E-A1EA-BE32ECEF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691156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C9FE2CB6-A2DB-4A49-B9A3-26D8A2A9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16202A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DEF1AE8-493C-4285-914B-5CDE606F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5F46C3B-F8D3-407C-9FDE-F4BCAA67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9E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E6F2"/>
                </a:solidFill>
                <a:latin typeface="Aptos"/>
                <a:ea typeface="Aptos"/>
                <a:cs typeface="Aptos"/>
              </a:rPr>
              <a:t>OPERATING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357C9-4DCD-48C2-97F1-41D5F1D7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90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GitHub is a good demo host, but package delivery is where scale pressure appears.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4120B-1C33-4772-BC8B-B7AC7FDF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3446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624F6-4F4A-4AAB-8198-05F902C5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Actions job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D7D70-20EE-4638-83A0-1198520D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6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CE56A-44C4-4943-BA7C-FB23E3B8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383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6D3DF"/>
                </a:solidFill>
                <a:latin typeface="Aptos"/>
                <a:ea typeface="Aptos"/>
                <a:cs typeface="Aptos"/>
              </a:rPr>
              <a:t>r-wasm package compile can hit this before the report code does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1151B-CD43-417E-8D5D-F1543AE0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36"/>
          </a:solidFill>
          <a:ln xmlns:a="http://schemas.openxmlformats.org/drawingml/2006/main" w="9525">
            <a:solidFill>
              <a:srgbClr val="3446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8631D-FEEB-42A3-831D-A6E9C1A1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Pages site size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B63D2-B16F-4D6D-A5C6-73D87BDC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1462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1 GB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6585C-832F-4CB5-BFF3-6B7D53B3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62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6D3DF"/>
                </a:solidFill>
                <a:latin typeface="Aptos"/>
                <a:ea typeface="Aptos"/>
                <a:cs typeface="Aptos"/>
              </a:rPr>
              <a:t>compiled package repo plus ZIP archive count toward site 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19B99-5E0E-4936-975C-52C2C787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3446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BA1B9-A9C1-4501-99EE-258B3AFA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Pages bandwidth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50D60-4174-4EA2-A8B3-B4843217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100 GB/month soft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5DE40-BBA2-4774-B9FF-2B7C11B5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86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6D3DF"/>
                </a:solidFill>
                <a:latin typeface="Aptos"/>
                <a:ea typeface="Aptos"/>
                <a:cs typeface="Aptos"/>
              </a:rPr>
              <a:t>each webR user may download large wasm package 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419F2-43D3-42C0-AFF9-0DE7C793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36"/>
          </a:solidFill>
          <a:ln xmlns:a="http://schemas.openxmlformats.org/drawingml/2006/main" w="9525">
            <a:solidFill>
              <a:srgbClr val="3446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B722C-426A-4DE2-BC67-A1703B3B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005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Pages build/deploy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09B86-4A4B-453C-8977-63E94525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6242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10 min 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7641B-A04A-4DDF-9AAA-25A724C6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10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6D3DF"/>
                </a:solidFill>
                <a:latin typeface="Aptos"/>
                <a:ea typeface="Aptos"/>
                <a:cs typeface="Aptos"/>
              </a:rPr>
              <a:t>package build happens earlier, but final deployment still must finish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657AB-7AE1-4E79-842E-913F01D7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3446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63F84-C74A-4BEE-8F61-83AE5A3A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Repository files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B14B1-E2CD-4137-AF64-235BAED9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8632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100 MB object block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204FB-E510-4A97-979A-00EA006E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33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6D3D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6D3DF"/>
                </a:solidFill>
                <a:latin typeface="Aptos"/>
                <a:ea typeface="Aptos"/>
                <a:cs typeface="Aptos"/>
              </a:rPr>
              <a:t>never commit compiled package artifacts into git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2FB01-A96F-4F1D-A31C-7FCAF763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874E1A-CF35-4F7A-AC74-ACE299E9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Source: GitHub Docs for Actions limits, Pages limits, repository and large file limits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4AB20C-615F-43BA-BAF8-5491B83F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84063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F321A71-2F73-47B2-9DCF-5F036AD7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008997C-9F8E-4686-9E70-FB818F54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7601F55-1509-483B-95FF-15B4C7D0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CURRENT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2845E-3D6B-48C2-92AD-E57113AC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The project is demo-ready; the next work is production hardening.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2E30B-0A43-4653-AAFA-1A1D31AB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84861-4772-4814-9430-7290301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E"/>
          </a:solidFill>
          <a:ln xmlns:a="http://schemas.openxmlformats.org/drawingml/2006/main" w="0">
            <a:solidFill>
              <a:srgbClr val="E6F4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74D1C-ED91-458D-9845-ED3371B9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865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6865C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C0AF3-6182-4311-A7ED-0BA5AFB4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669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Standalone report builder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D02BC-C81C-4B58-9121-4AB3D1DA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764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builds one HTML; --data-root, title, abbreviation, run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0E783-FC60-4E3B-99FC-7AA87900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2D786-C054-4311-8E4E-FAE5D1C0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E"/>
          </a:solidFill>
          <a:ln xmlns:a="http://schemas.openxmlformats.org/drawingml/2006/main" w="0">
            <a:solidFill>
              <a:srgbClr val="E6F4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74D0B-EB2B-4BC6-8266-10C9E4EF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865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6865C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8365A-844E-4677-BD18-CD2D903F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765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Multi-factor 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6866F-8F15-49AD-8C46-A5E131F0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8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primary DE factor plus optional covariates/blocking factors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669BD-E212-4E3A-9CE1-3CC58AE8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11063-A60F-4850-99D1-540822C2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6707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E"/>
          </a:solidFill>
          <a:ln xmlns:a="http://schemas.openxmlformats.org/drawingml/2006/main" w="0">
            <a:solidFill>
              <a:srgbClr val="E6F4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ED181-87DE-41D5-9F17-C6BF7AA7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865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6865C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B0D54-769F-4E5E-A77A-706BC58D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861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Interactive visuals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CFC946-DF35-47A7-BB5A-B2EAACE4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956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Plotly PCA/DE/enrichment; Clustergrammer heatmap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2A111-2DE1-447C-B2B3-AB6E56F9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B9B688-0AF4-48D4-96F9-54FBA9BE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0">
            <a:solidFill>
              <a:srgbClr val="F0E8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608D03-5711-4580-9E4F-558AD003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rebuilt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6ACA83-DBAC-4AB4-AB95-AE6991DB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957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webR snapshot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98430-034F-4EE0-AF44-833D8528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v0.1.0 now includes 50 packages and compiled fgsea deps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3D6B43-FBDE-4930-AF66-919FA24B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76ED54-865A-4DCB-BC38-ACD93E37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8627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FFF2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0C8FBB-58D6-4490-BFA6-DAAD8864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61CD5E-5B1C-4BCC-9BA2-5335F920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053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Production pathways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5AE501-1BC4-4AC1-B16E-990B31D1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148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replace demo GMT files with curated hg38/mm10 sets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37DEED-9FD1-493F-A5E2-D4830E14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6D105E-8A7D-48C4-9CC9-C3D4DDE0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FFF2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B0306B-26B8-46E3-B8E3-B5FCFFC4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5ADFA5-3E76-4139-9C44-38FC0012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149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Scale plan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C22E43-2D8A-449E-83AB-04B40AA0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1244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consider CDN/object storage if package downloads grow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9266ED-0D65-4DB0-B7CF-6816C86D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2B2937-F8F2-4C02-A00A-0B1A4654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Source: README.md, current repo state, GitHub Actions run 25970943003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0A1C16-8D37-48F4-810F-61039555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51756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0F77A37-9AA6-4717-9B70-4FE5FD6D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63F181-8480-4A5A-A724-FD6B3C0A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B6E85FF-7D4B-479E-B8A8-6959851E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987E8-295B-422D-98D4-799D73CC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The path forward is to separate deliverable confidence from exploratory power.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74D07-91B0-46A1-A420-9AC94874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143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45B30-29B3-4405-B348-C6D7A5BA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solidFill>
              <a:srgbClr val="1686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AA737-51BB-4073-9BA4-36FF79F0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6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65C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A8A3E-1502-4EF1-8592-D98E658D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Report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6BA1E-CE33-4328-9CA8-41B16CE4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Lock counts/manifest/QC schema, fixtures, validation, and standalone builder UX.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76F2B-D0BD-4582-8935-CF4F330D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143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4C287-C202-45BD-BB22-4C925150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F13FC-F839-448A-84D4-1B040A62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860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89350-5AAA-4516-9135-93905B20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Analysis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41A05-6A33-4AEB-832A-4E075AEF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Curate pathway sets, add clearer DE/fgsea guardrails, and document sample-design limits.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45701-6316-4205-A008-966BEE4C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143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E4159-17CA-4A78-B878-95DFBC3A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A46EC5-74A2-4105-9429-201C2D38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2AFA1-446A-4E9B-8A9A-BDC8B183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Delivery scale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4BB1E-D78A-4788-9062-24F25F28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385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Move package snapshot to durable static storage/CDN if Pages size or bandwidth becomes real.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16E70-0BFE-4A24-B4D0-FDB439D4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4D6E0-42FE-4369-A97F-72F15304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8F7DD1-85C9-4B8A-AFC6-B2C999D3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14900"/>
            <a:ext cx="8991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Colleague decisions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A7F07-CF39-4A10-BCC3-41BE7A6B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8991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8D6E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6E3"/>
                </a:solidFill>
                <a:latin typeface="Aptos"/>
                <a:ea typeface="Aptos"/>
                <a:cs typeface="Aptos"/>
              </a:rPr>
              <a:t>What belongs in the pipeline versus the browser?</a:t>
            </a:r>
          </a:p>
          <a:p xmlns:a="http://schemas.openxmlformats.org/drawingml/2006/main">
            <a:pPr algn="l">
              <a:defRPr sz="863" b="0">
                <a:solidFill>
                  <a:srgbClr val="C8D6E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6E3"/>
                </a:solidFill>
                <a:latin typeface="Aptos"/>
                <a:ea typeface="Aptos"/>
                <a:cs typeface="Aptos"/>
              </a:rPr>
              <a:t>Which datasets define acceptance?</a:t>
            </a:r>
          </a:p>
          <a:p xmlns:a="http://schemas.openxmlformats.org/drawingml/2006/main">
            <a:pPr algn="l">
              <a:defRPr sz="863" b="0">
                <a:solidFill>
                  <a:srgbClr val="C8D6E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6E3"/>
                </a:solidFill>
                <a:latin typeface="Aptos"/>
                <a:ea typeface="Aptos"/>
                <a:cs typeface="Aptos"/>
              </a:rPr>
              <a:t>When does the package repo need CDN/object storage instead of GitHub Pages?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698AF-27EE-4B61-B828-0894E74A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solidFill>
              <a:srgbClr val="C8D2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407D8F-64CE-4876-AD18-ADA981F7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Source: project roadmap implied by current implementation and operational limits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E392A0-06C7-4616-A89B-2B240A8C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94614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2026-05-16T19:56:53.6930000Z</dcterms:created>
  <dcterms:modified xsi:type="dcterms:W3CDTF">2026-05-16T19:56:53.6930000Z</dcterms:modified>
</coreProperties>
</file>